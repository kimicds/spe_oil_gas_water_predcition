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2"/>
  </p:notesMasterIdLst>
  <p:sldIdLst>
    <p:sldId id="256" r:id="rId2"/>
    <p:sldId id="258" r:id="rId3"/>
    <p:sldId id="259" r:id="rId4"/>
    <p:sldId id="257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16" autoAdjust="0"/>
    <p:restoredTop sz="94660"/>
  </p:normalViewPr>
  <p:slideViewPr>
    <p:cSldViewPr>
      <p:cViewPr varScale="1">
        <p:scale>
          <a:sx n="64" d="100"/>
          <a:sy n="64" d="100"/>
        </p:scale>
        <p:origin x="-728" y="-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26A804-72A4-4AD1-BDC4-5E809B018600}" type="datetimeFigureOut">
              <a:rPr lang="en-US" smtClean="0"/>
              <a:t>7/6/2024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E50C2D-8CEA-428B-8205-21882ECF82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6931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8E886-EB7C-43A6-98FF-C691D97C2D54}" type="datetime1">
              <a:rPr lang="en-US" smtClean="0"/>
              <a:t>7/6/2024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8128E-5CC3-4DD3-8F5B-4F7426C3CA53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52A91-63A7-47E1-944C-C2FD5AE00E4D}" type="datetime1">
              <a:rPr lang="en-US" smtClean="0"/>
              <a:t>7/6/2024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8128E-5CC3-4DD3-8F5B-4F7426C3CA5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F4B7B-9273-4853-A5C9-65445758781D}" type="datetime1">
              <a:rPr lang="en-US" smtClean="0"/>
              <a:t>7/6/2024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8128E-5CC3-4DD3-8F5B-4F7426C3CA53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7126A-DF58-4A48-A666-D71A97FAC760}" type="datetime1">
              <a:rPr lang="en-US" smtClean="0"/>
              <a:t>7/6/2024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8128E-5CC3-4DD3-8F5B-4F7426C3CA5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F36AB-0888-4CA8-93CC-75EA3695DD13}" type="datetime1">
              <a:rPr lang="en-US" smtClean="0"/>
              <a:t>7/6/2024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8128E-5CC3-4DD3-8F5B-4F7426C3CA5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A8DB1-4FAA-4499-A4F4-25FD7AAB8CAB}" type="datetime1">
              <a:rPr lang="en-US" smtClean="0"/>
              <a:t>7/6/2024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8128E-5CC3-4DD3-8F5B-4F7426C3CA5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C1430-8382-4947-88C9-D09E720CDAB0}" type="datetime1">
              <a:rPr lang="en-US" smtClean="0"/>
              <a:t>7/6/2024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8128E-5CC3-4DD3-8F5B-4F7426C3CA5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959A3-745B-49CB-A273-75E07897BD7B}" type="datetime1">
              <a:rPr lang="en-US" smtClean="0"/>
              <a:t>7/6/2024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8128E-5CC3-4DD3-8F5B-4F7426C3CA5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22FAB-7C08-4AA4-B3BD-42492D9CCE59}" type="datetime1">
              <a:rPr lang="en-US" smtClean="0"/>
              <a:t>7/6/2024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D218128E-5CC3-4DD3-8F5B-4F7426C3CA53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38421-D12D-4620-9FEF-0DE9AD7D4C97}" type="datetime1">
              <a:rPr lang="en-US" smtClean="0"/>
              <a:t>7/6/2024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8128E-5CC3-4DD3-8F5B-4F7426C3CA5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32652-9A74-4BAB-A2E5-D745F5822728}" type="datetime1">
              <a:rPr lang="en-US" smtClean="0"/>
              <a:t>7/6/2024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8128E-5CC3-4DD3-8F5B-4F7426C3CA5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926AE48D-4AB7-4AD1-A963-83DBFB4631E6}" type="datetime1">
              <a:rPr lang="en-US" smtClean="0"/>
              <a:t>7/6/2024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D218128E-5CC3-4DD3-8F5B-4F7426C3CA53}" type="slidenum">
              <a:rPr lang="en-US" smtClean="0"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" y="2514600"/>
            <a:ext cx="9144000" cy="990600"/>
          </a:xfrm>
          <a:solidFill>
            <a:schemeClr val="tx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>
            <a:noAutofit/>
          </a:bodyPr>
          <a:lstStyle/>
          <a:p>
            <a:pPr algn="ctr"/>
            <a:r>
              <a:rPr lang="en-US" sz="3600" b="0" dirty="0" smtClean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Prediction of Oil, Gas and Water Production Using Machine Learning</a:t>
            </a:r>
            <a:endParaRPr lang="en-US" sz="3600" dirty="0">
              <a:solidFill>
                <a:schemeClr val="accent1">
                  <a:lumMod val="75000"/>
                </a:schemeClr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8039" y="4419600"/>
            <a:ext cx="9095961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SPE Number:  5501001	</a:t>
            </a: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SPE Section:    Abuja Section</a:t>
            </a:r>
            <a:br>
              <a:rPr lang="en-US" sz="20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Category: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  Student </a:t>
            </a: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Course of Study: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Chemical Engineering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School:   Federal University of Technology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Minna</a:t>
            </a:r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Date: 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10/07/2024</a:t>
            </a:r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819400" y="3971067"/>
            <a:ext cx="259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Akimu Odunola</a:t>
            </a:r>
            <a:endParaRPr 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236" y="381000"/>
            <a:ext cx="7219950" cy="144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71096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524000"/>
            <a:ext cx="9144000" cy="50292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8229600" cy="6858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>
                <a:latin typeface="Constantia" pitchFamily="18" charset="0"/>
              </a:rPr>
              <a:t>Introduction</a:t>
            </a:r>
            <a:endParaRPr lang="en-US" dirty="0">
              <a:latin typeface="Constantia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38200"/>
            <a:ext cx="8686800" cy="5486400"/>
          </a:xfrm>
        </p:spPr>
        <p:txBody>
          <a:bodyPr/>
          <a:lstStyle/>
          <a:p>
            <a:pPr marL="0" indent="0">
              <a:buNone/>
            </a:pPr>
            <a:endParaRPr lang="en-US" sz="1800" dirty="0" smtClean="0"/>
          </a:p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8128E-5CC3-4DD3-8F5B-4F7426C3CA53}" type="slidenum">
              <a:rPr lang="en-US" sz="4000" smtClean="0"/>
              <a:t>2</a:t>
            </a:fld>
            <a:endParaRPr lang="en-US" sz="4000" dirty="0"/>
          </a:p>
        </p:txBody>
      </p:sp>
      <p:sp>
        <p:nvSpPr>
          <p:cNvPr id="5" name="TextBox 4"/>
          <p:cNvSpPr txBox="1"/>
          <p:nvPr/>
        </p:nvSpPr>
        <p:spPr>
          <a:xfrm>
            <a:off x="76201" y="914401"/>
            <a:ext cx="8229599" cy="6340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The SPE DSEAT  Africa </a:t>
            </a:r>
            <a:r>
              <a:rPr lang="en-US" sz="2000" b="1" dirty="0" err="1"/>
              <a:t>Datathon</a:t>
            </a:r>
            <a:r>
              <a:rPr lang="en-US" sz="2000" b="1" dirty="0"/>
              <a:t> Challenge presents an exciting opportunity to harness machine learning for real-world challenges in the oil and gas industry. This presentation focuses on developing a model to predict oil, gas, and water production based on historical well data provided by the competition organizers</a:t>
            </a:r>
            <a:r>
              <a:rPr lang="en-US" sz="2000" b="1" dirty="0" smtClean="0"/>
              <a:t>.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5527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5800" y="1887706"/>
            <a:ext cx="4376620" cy="232529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887706"/>
            <a:ext cx="2744068" cy="314149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10600" cy="66751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Objective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914400"/>
            <a:ext cx="8534400" cy="54102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dirty="0" smtClean="0"/>
              <a:t>This </a:t>
            </a:r>
            <a:r>
              <a:rPr lang="en-US" sz="2400" dirty="0"/>
              <a:t>is an end to end project of performing machine learning workflow on a real world dataset and then applying several different machine Learning algorithms to solve a supervised regression problem on the </a:t>
            </a:r>
            <a:r>
              <a:rPr lang="en-US" sz="2400" dirty="0" smtClean="0"/>
              <a:t>dataset. 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endParaRPr lang="en-US" sz="2400" dirty="0"/>
          </a:p>
          <a:p>
            <a:pPr>
              <a:buFont typeface="Wingdings" pitchFamily="2" charset="2"/>
              <a:buChar char="v"/>
            </a:pPr>
            <a:r>
              <a:rPr lang="en-US" sz="2400" b="1" dirty="0" smtClean="0"/>
              <a:t>Our </a:t>
            </a:r>
            <a:r>
              <a:rPr lang="en-US" sz="2400" b="1" dirty="0"/>
              <a:t>goal is to accurately predict oil, gas and water production given the historical production data to predict future  production performance.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16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8128E-5CC3-4DD3-8F5B-4F7426C3CA53}" type="slidenum">
              <a:rPr lang="en-US" sz="4000" smtClean="0"/>
              <a:t>3</a:t>
            </a:fld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954802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3252"/>
            <a:ext cx="8229600" cy="76200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066800"/>
            <a:ext cx="8686800" cy="5029200"/>
          </a:xfrm>
        </p:spPr>
        <p:txBody>
          <a:bodyPr/>
          <a:lstStyle/>
          <a:p>
            <a:pPr marL="514350" lvl="0" indent="-514350">
              <a:buFont typeface="+mj-lt"/>
              <a:buAutoNum type="arabicPeriod"/>
            </a:pPr>
            <a:endParaRPr lang="en-US" b="1" dirty="0" smtClean="0"/>
          </a:p>
          <a:p>
            <a:pPr marL="514350" lvl="0" indent="-514350">
              <a:buFont typeface="+mj-lt"/>
              <a:buAutoNum type="arabicPeriod"/>
            </a:pPr>
            <a:r>
              <a:rPr lang="en-US" b="1" dirty="0" smtClean="0"/>
              <a:t>Introduction</a:t>
            </a:r>
            <a:r>
              <a:rPr lang="en-US" b="1" dirty="0"/>
              <a:t>							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b="1" dirty="0" smtClean="0"/>
              <a:t>Objective</a:t>
            </a:r>
            <a:r>
              <a:rPr lang="en-US" b="1" dirty="0"/>
              <a:t>				</a:t>
            </a:r>
            <a:r>
              <a:rPr lang="en-US" b="1" dirty="0" smtClean="0"/>
              <a:t>	</a:t>
            </a:r>
            <a:endParaRPr lang="en-US" b="1" dirty="0"/>
          </a:p>
          <a:p>
            <a:pPr marL="514350" lvl="0" indent="-514350">
              <a:buFont typeface="+mj-lt"/>
              <a:buAutoNum type="arabicPeriod"/>
            </a:pPr>
            <a:r>
              <a:rPr lang="en-US" b="1" dirty="0"/>
              <a:t>Data </a:t>
            </a:r>
            <a:r>
              <a:rPr lang="en-US" b="1" dirty="0" smtClean="0"/>
              <a:t>Preprocessing</a:t>
            </a:r>
            <a:r>
              <a:rPr lang="en-US" b="1" dirty="0"/>
              <a:t>				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b="1" dirty="0"/>
              <a:t>Exploratory Data Analysis				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b="1" dirty="0"/>
              <a:t>Feature Engineering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b="1" dirty="0"/>
              <a:t>Model Training and Evaluation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b="1" dirty="0"/>
              <a:t>Results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b="1" dirty="0"/>
              <a:t>Conclusion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001000" y="6400800"/>
            <a:ext cx="762000" cy="365125"/>
          </a:xfrm>
        </p:spPr>
        <p:txBody>
          <a:bodyPr/>
          <a:lstStyle/>
          <a:p>
            <a:fld id="{D218128E-5CC3-4DD3-8F5B-4F7426C3CA53}" type="slidenum">
              <a:rPr lang="en-US" sz="4000" smtClean="0"/>
              <a:t>4</a:t>
            </a:fld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047118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0" y="864704"/>
            <a:ext cx="2918791" cy="194391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76200"/>
            <a:ext cx="8229600" cy="60960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Data Preprocessing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  <a14:imgEffect>
                      <a14:brightnessContrast brigh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2286000"/>
            <a:ext cx="4250634" cy="20574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914400"/>
            <a:ext cx="8534400" cy="5410200"/>
          </a:xfrm>
        </p:spPr>
        <p:txBody>
          <a:bodyPr>
            <a:normAutofit lnSpcReduction="10000"/>
          </a:bodyPr>
          <a:lstStyle/>
          <a:p>
            <a:pPr marL="274320" lvl="1" indent="-274320">
              <a:buClr>
                <a:schemeClr val="accent3"/>
              </a:buClr>
              <a:buSzPct val="95000"/>
            </a:pPr>
            <a:r>
              <a:rPr lang="en-US" b="1" dirty="0"/>
              <a:t>Handling missing values and </a:t>
            </a:r>
            <a:r>
              <a:rPr lang="en-US" b="1" dirty="0" smtClean="0"/>
              <a:t>outliers</a:t>
            </a:r>
          </a:p>
          <a:p>
            <a:pPr marL="274320" lvl="1" indent="-274320">
              <a:buClr>
                <a:schemeClr val="accent3"/>
              </a:buClr>
              <a:buSzPct val="95000"/>
            </a:pPr>
            <a:r>
              <a:rPr lang="en-US" b="1" dirty="0"/>
              <a:t>Identifying Unexpected </a:t>
            </a:r>
            <a:r>
              <a:rPr lang="en-US" b="1" dirty="0" smtClean="0"/>
              <a:t>Values</a:t>
            </a:r>
          </a:p>
          <a:p>
            <a:pPr marL="274320" lvl="1" indent="-274320">
              <a:buClr>
                <a:schemeClr val="accent3"/>
              </a:buClr>
              <a:buSzPct val="95000"/>
            </a:pPr>
            <a:r>
              <a:rPr lang="en-US" b="1" dirty="0"/>
              <a:t>Handling Low-Cardinality Columns</a:t>
            </a:r>
          </a:p>
          <a:p>
            <a:pPr marL="0" lvl="1" indent="0">
              <a:buClr>
                <a:schemeClr val="accent3"/>
              </a:buClr>
              <a:buSzPct val="95000"/>
              <a:buNone/>
            </a:pPr>
            <a:endParaRPr lang="en-US" dirty="0"/>
          </a:p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endParaRPr lang="en-US" sz="2800" b="1" dirty="0"/>
          </a:p>
          <a:p>
            <a:pPr marL="0" indent="0">
              <a:buNone/>
            </a:pPr>
            <a:r>
              <a:rPr lang="en-US" sz="2800" dirty="0" smtClean="0"/>
              <a:t>This </a:t>
            </a:r>
            <a:r>
              <a:rPr lang="en-US" sz="2800" dirty="0"/>
              <a:t>is the  process of dealing with errors or inconsistencies in the data. This step involves identifying incorrect data, missing data, duplicated data, and irrelevant data.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18128E-5CC3-4DD3-8F5B-4F7426C3CA53}" type="slidenum">
              <a:rPr lang="en-US" sz="4000" smtClean="0"/>
              <a:t>5</a:t>
            </a:fld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939614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0"/>
            <a:ext cx="8229600" cy="838200"/>
          </a:xfrm>
        </p:spPr>
        <p:txBody>
          <a:bodyPr>
            <a:normAutofit/>
          </a:bodyPr>
          <a:lstStyle/>
          <a:p>
            <a:r>
              <a:rPr lang="en-US" dirty="0" smtClean="0"/>
              <a:t>	Exploratory Data 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838200"/>
            <a:ext cx="8610600" cy="5486400"/>
          </a:xfrm>
        </p:spPr>
        <p:txBody>
          <a:bodyPr/>
          <a:lstStyle/>
          <a:p>
            <a:endParaRPr lang="en-US" sz="1600" b="1" dirty="0" smtClean="0"/>
          </a:p>
          <a:p>
            <a:r>
              <a:rPr lang="en-US" sz="1600" b="1" dirty="0" smtClean="0"/>
              <a:t>Descriptive</a:t>
            </a:r>
            <a:r>
              <a:rPr lang="en-US" sz="1600" b="1" dirty="0" smtClean="0"/>
              <a:t> </a:t>
            </a:r>
            <a:r>
              <a:rPr lang="en-US" sz="1600" b="1" dirty="0" smtClean="0"/>
              <a:t>statistics</a:t>
            </a:r>
            <a:r>
              <a:rPr lang="en-US" sz="1600" b="1" dirty="0" smtClean="0"/>
              <a:t>.</a:t>
            </a:r>
          </a:p>
          <a:p>
            <a:r>
              <a:rPr lang="en-US" sz="1600" b="1" dirty="0" smtClean="0"/>
              <a:t>Count plot </a:t>
            </a:r>
            <a:r>
              <a:rPr lang="en-US" sz="1600" b="1" dirty="0"/>
              <a:t>of  categorical features</a:t>
            </a:r>
            <a:r>
              <a:rPr lang="en-US" sz="1600" b="1" dirty="0" smtClean="0"/>
              <a:t>.</a:t>
            </a:r>
            <a:endParaRPr lang="en-US" sz="1600" b="1" dirty="0" smtClean="0"/>
          </a:p>
          <a:p>
            <a:r>
              <a:rPr lang="en-US" sz="1600" b="1" dirty="0" smtClean="0"/>
              <a:t>Line plot </a:t>
            </a:r>
            <a:r>
              <a:rPr lang="en-US" sz="1600" b="1" dirty="0" smtClean="0"/>
              <a:t>to understand the trend in our targets </a:t>
            </a:r>
            <a:r>
              <a:rPr lang="en-US" sz="1600" b="1" dirty="0" smtClean="0"/>
              <a:t>features</a:t>
            </a:r>
          </a:p>
          <a:p>
            <a:r>
              <a:rPr lang="en-US" sz="1600" b="1" dirty="0" smtClean="0"/>
              <a:t>Bar plot </a:t>
            </a:r>
            <a:r>
              <a:rPr lang="en-US" sz="1600" b="1" dirty="0"/>
              <a:t>of categorical features</a:t>
            </a:r>
            <a:r>
              <a:rPr lang="en-US" sz="1600" b="1" dirty="0" smtClean="0"/>
              <a:t>.</a:t>
            </a:r>
            <a:endParaRPr lang="en-US" sz="1600" b="1" dirty="0" smtClean="0"/>
          </a:p>
          <a:p>
            <a:r>
              <a:rPr lang="en-US" sz="1600" b="1" dirty="0" smtClean="0"/>
              <a:t>Plotting </a:t>
            </a:r>
            <a:r>
              <a:rPr lang="en-US" sz="1600" b="1" dirty="0"/>
              <a:t>histograms  and  boxplot to visualize data distribution and detect outliers</a:t>
            </a:r>
            <a:r>
              <a:rPr lang="en-US" sz="1600" b="1" dirty="0" smtClean="0"/>
              <a:t>.</a:t>
            </a:r>
          </a:p>
          <a:p>
            <a:r>
              <a:rPr lang="en-US" sz="1600" b="1" dirty="0"/>
              <a:t>Visualizing the correlations between different </a:t>
            </a:r>
            <a:r>
              <a:rPr lang="en-US" sz="1600" b="1" dirty="0" smtClean="0"/>
              <a:t>features.</a:t>
            </a:r>
          </a:p>
          <a:p>
            <a:r>
              <a:rPr lang="en-US" sz="1600" b="1" dirty="0" smtClean="0"/>
              <a:t>Finding </a:t>
            </a:r>
            <a:r>
              <a:rPr lang="en-US" sz="1600" b="1" dirty="0"/>
              <a:t>unique values in each feature to understand the </a:t>
            </a:r>
            <a:r>
              <a:rPr lang="en-US" sz="1600" b="1" dirty="0" smtClean="0"/>
              <a:t>variance.</a:t>
            </a:r>
            <a:endParaRPr lang="en-US" sz="1600" b="1" dirty="0"/>
          </a:p>
          <a:p>
            <a:pPr marL="0" indent="0">
              <a:buNone/>
            </a:pPr>
            <a:endParaRPr lang="en-US" sz="1600" b="1" dirty="0"/>
          </a:p>
        </p:txBody>
      </p:sp>
      <p:grpSp>
        <p:nvGrpSpPr>
          <p:cNvPr id="4" name="Group 3"/>
          <p:cNvGrpSpPr/>
          <p:nvPr/>
        </p:nvGrpSpPr>
        <p:grpSpPr>
          <a:xfrm>
            <a:off x="685800" y="3432636"/>
            <a:ext cx="7558709" cy="2791733"/>
            <a:chOff x="685800" y="3432636"/>
            <a:chExt cx="7558709" cy="2791733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5800" y="3432636"/>
              <a:ext cx="7558709" cy="2791733"/>
            </a:xfrm>
            <a:prstGeom prst="rect">
              <a:avLst/>
            </a:prstGeom>
          </p:spPr>
        </p:pic>
        <p:sp>
          <p:nvSpPr>
            <p:cNvPr id="7" name="TextBox 6"/>
            <p:cNvSpPr txBox="1"/>
            <p:nvPr/>
          </p:nvSpPr>
          <p:spPr>
            <a:xfrm rot="1456819">
              <a:off x="4822417" y="3872625"/>
              <a:ext cx="801684" cy="32736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EDA</a:t>
              </a:r>
              <a:endParaRPr lang="en-US" dirty="0"/>
            </a:p>
          </p:txBody>
        </p:sp>
        <p:sp>
          <p:nvSpPr>
            <p:cNvPr id="8" name="Rectangle 7"/>
            <p:cNvSpPr/>
            <p:nvPr/>
          </p:nvSpPr>
          <p:spPr>
            <a:xfrm rot="933416">
              <a:off x="4271524" y="3922261"/>
              <a:ext cx="3495336" cy="436603"/>
            </a:xfrm>
            <a:prstGeom prst="rect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 smtClean="0"/>
                <a:t>EDA</a:t>
              </a:r>
              <a:endParaRPr lang="en-US" sz="3200" b="1" dirty="0"/>
            </a:p>
          </p:txBody>
        </p:sp>
      </p:grp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7924800" y="6492875"/>
            <a:ext cx="762000" cy="365125"/>
          </a:xfrm>
        </p:spPr>
        <p:txBody>
          <a:bodyPr/>
          <a:lstStyle/>
          <a:p>
            <a:fld id="{D218128E-5CC3-4DD3-8F5B-4F7426C3CA53}" type="slidenum">
              <a:rPr lang="en-US" sz="4000" smtClean="0"/>
              <a:t>6</a:t>
            </a:fld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101525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8200"/>
            <a:ext cx="9144000" cy="60198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76200"/>
            <a:ext cx="8229600" cy="646043"/>
          </a:xfrm>
        </p:spPr>
        <p:txBody>
          <a:bodyPr>
            <a:normAutofit fontScale="90000"/>
          </a:bodyPr>
          <a:lstStyle/>
          <a:p>
            <a:pPr lvl="0" algn="ctr"/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>Feature Engineering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66800"/>
            <a:ext cx="8991600" cy="5257800"/>
          </a:xfrm>
        </p:spPr>
        <p:txBody>
          <a:bodyPr>
            <a:normAutofit/>
          </a:bodyPr>
          <a:lstStyle/>
          <a:p>
            <a:r>
              <a:rPr lang="en-US" dirty="0"/>
              <a:t> </a:t>
            </a:r>
            <a:r>
              <a:rPr lang="en-US" dirty="0" smtClean="0"/>
              <a:t>Feature </a:t>
            </a:r>
            <a:r>
              <a:rPr lang="en-US" dirty="0" smtClean="0"/>
              <a:t>Transformation</a:t>
            </a:r>
          </a:p>
          <a:p>
            <a:r>
              <a:rPr lang="en-US" dirty="0" smtClean="0"/>
              <a:t>Date Time Feature Engineering</a:t>
            </a:r>
          </a:p>
          <a:p>
            <a:r>
              <a:rPr lang="en-US" dirty="0" smtClean="0"/>
              <a:t>Categorical </a:t>
            </a:r>
            <a:r>
              <a:rPr lang="en-US" dirty="0" smtClean="0"/>
              <a:t>Features Encoding</a:t>
            </a:r>
          </a:p>
          <a:p>
            <a:r>
              <a:rPr lang="en-US" dirty="0" smtClean="0"/>
              <a:t>Features </a:t>
            </a:r>
            <a:r>
              <a:rPr lang="en-US" dirty="0" smtClean="0"/>
              <a:t>Scaling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01000" y="6456432"/>
            <a:ext cx="762000" cy="365125"/>
          </a:xfrm>
        </p:spPr>
        <p:txBody>
          <a:bodyPr/>
          <a:lstStyle/>
          <a:p>
            <a:fld id="{D218128E-5CC3-4DD3-8F5B-4F7426C3CA53}" type="slidenum">
              <a:rPr lang="en-US" sz="4000" smtClean="0"/>
              <a:t>7</a:t>
            </a:fld>
            <a:endParaRPr lang="en-US" sz="4000" dirty="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429000"/>
            <a:ext cx="6705601" cy="3429000"/>
          </a:xfrm>
          <a:prstGeom prst="rect">
            <a:avLst/>
          </a:prstGeom>
          <a:ln>
            <a:solidFill>
              <a:schemeClr val="accent2"/>
            </a:solidFill>
          </a:ln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600" y="1287117"/>
            <a:ext cx="1949450" cy="217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485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229600" cy="533400"/>
          </a:xfrm>
        </p:spPr>
        <p:txBody>
          <a:bodyPr>
            <a:normAutofit fontScale="90000"/>
          </a:bodyPr>
          <a:lstStyle/>
          <a:p>
            <a:pPr lvl="0" algn="ctr"/>
            <a:r>
              <a:rPr lang="en-US" b="1" dirty="0"/>
              <a:t>Model Training and Evaluation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44217"/>
            <a:ext cx="9067800" cy="5486400"/>
          </a:xfrm>
        </p:spPr>
        <p:txBody>
          <a:bodyPr>
            <a:normAutofit lnSpcReduction="10000"/>
          </a:bodyPr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r>
              <a:rPr lang="en-US" dirty="0" smtClean="0"/>
              <a:t>Train Test Split of The Training Dataset </a:t>
            </a:r>
          </a:p>
          <a:p>
            <a:r>
              <a:rPr lang="en-US" dirty="0" smtClean="0"/>
              <a:t>Models Training  </a:t>
            </a:r>
          </a:p>
          <a:p>
            <a:r>
              <a:rPr lang="en-US" dirty="0" smtClean="0"/>
              <a:t> Evaluation of The Models Performance Using r2_score</a:t>
            </a:r>
          </a:p>
          <a:p>
            <a:r>
              <a:rPr lang="en-US" dirty="0" smtClean="0"/>
              <a:t>Models Selection Based on Performance</a:t>
            </a:r>
          </a:p>
          <a:p>
            <a:r>
              <a:rPr lang="en-US" dirty="0" smtClean="0"/>
              <a:t>Best Models Optimization</a:t>
            </a:r>
          </a:p>
          <a:p>
            <a:r>
              <a:rPr lang="en-US" dirty="0" smtClean="0"/>
              <a:t>Voting </a:t>
            </a:r>
            <a:r>
              <a:rPr lang="en-US" dirty="0" err="1" smtClean="0"/>
              <a:t>Regession</a:t>
            </a:r>
            <a:r>
              <a:rPr lang="en-US" dirty="0" smtClean="0"/>
              <a:t> and Prediction on The Validation Dataset.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944217"/>
            <a:ext cx="6629400" cy="268605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096000" y="3352800"/>
            <a:ext cx="838200" cy="2120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001000" y="6400800"/>
            <a:ext cx="762000" cy="365125"/>
          </a:xfrm>
        </p:spPr>
        <p:txBody>
          <a:bodyPr/>
          <a:lstStyle/>
          <a:p>
            <a:fld id="{D218128E-5CC3-4DD3-8F5B-4F7426C3CA53}" type="slidenum">
              <a:rPr lang="en-US" sz="4000" smtClean="0"/>
              <a:t>8</a:t>
            </a:fld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255340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79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Results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53400" y="6476310"/>
            <a:ext cx="762000" cy="365125"/>
          </a:xfrm>
        </p:spPr>
        <p:txBody>
          <a:bodyPr/>
          <a:lstStyle/>
          <a:p>
            <a:fld id="{D218128E-5CC3-4DD3-8F5B-4F7426C3CA53}" type="slidenum">
              <a:rPr lang="en-US" sz="4000" smtClean="0"/>
              <a:t>9</a:t>
            </a:fld>
            <a:endParaRPr lang="en-US" sz="4000" dirty="0"/>
          </a:p>
        </p:txBody>
      </p:sp>
      <p:pic>
        <p:nvPicPr>
          <p:cNvPr id="10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600"/>
            <a:ext cx="4419600" cy="601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650507"/>
            <a:ext cx="3733800" cy="22032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2889092"/>
            <a:ext cx="4038599" cy="20319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4920997"/>
            <a:ext cx="3809999" cy="17979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6569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76200"/>
            <a:ext cx="8229600" cy="6858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Conclusion</a:t>
            </a:r>
            <a:endParaRPr lang="en-US" dirty="0"/>
          </a:p>
        </p:txBody>
      </p:sp>
      <p:pic>
        <p:nvPicPr>
          <p:cNvPr id="9" name="Content Placeholder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216" y="4495800"/>
            <a:ext cx="7110984" cy="1874130"/>
          </a:xfrm>
          <a:prstGeom prst="rect">
            <a:avLst/>
          </a:prstGeom>
        </p:spPr>
      </p:pic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76200" y="914400"/>
            <a:ext cx="8610600" cy="5410200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sz="1800" dirty="0" smtClean="0"/>
              <a:t>Our VotingRegressor </a:t>
            </a:r>
            <a:r>
              <a:rPr lang="en-US" sz="1800" dirty="0"/>
              <a:t>model explains </a:t>
            </a:r>
            <a:r>
              <a:rPr lang="en-US" sz="1800" dirty="0" smtClean="0"/>
              <a:t>96.8% </a:t>
            </a:r>
            <a:r>
              <a:rPr lang="en-US" sz="1800" dirty="0"/>
              <a:t>of the variation in oil ,</a:t>
            </a:r>
            <a:r>
              <a:rPr lang="en-US" sz="1800" dirty="0" smtClean="0"/>
              <a:t>gas, and water  production. This </a:t>
            </a:r>
            <a:r>
              <a:rPr lang="en-US" sz="1800" dirty="0"/>
              <a:t>model helps us predict future </a:t>
            </a:r>
            <a:r>
              <a:rPr lang="en-US" sz="1800" dirty="0" smtClean="0"/>
              <a:t>production</a:t>
            </a:r>
            <a:r>
              <a:rPr lang="en-US" sz="1800" dirty="0"/>
              <a:t>, resulting in better planning and resource allocation. </a:t>
            </a:r>
            <a:endParaRPr lang="en-US" sz="1800" dirty="0" smtClean="0"/>
          </a:p>
          <a:p>
            <a:pPr>
              <a:buFont typeface="Wingdings" pitchFamily="2" charset="2"/>
              <a:buChar char="Ø"/>
            </a:pPr>
            <a:r>
              <a:rPr lang="en-US" sz="1800" dirty="0" smtClean="0"/>
              <a:t>By </a:t>
            </a:r>
            <a:r>
              <a:rPr lang="en-US" sz="1800" dirty="0"/>
              <a:t>understanding the relevant aspects on production given by the model, we may make informed decisions on adjustments in </a:t>
            </a:r>
            <a:r>
              <a:rPr lang="en-US" sz="1800" dirty="0" smtClean="0"/>
              <a:t>choke  size, temperature and pressure  optimization </a:t>
            </a:r>
            <a:r>
              <a:rPr lang="en-US" sz="1800" dirty="0"/>
              <a:t>maintenance, all focuses at </a:t>
            </a:r>
            <a:r>
              <a:rPr lang="en-US" sz="1800" dirty="0" smtClean="0"/>
              <a:t>maximizing </a:t>
            </a:r>
            <a:r>
              <a:rPr lang="en-US" sz="1800" dirty="0"/>
              <a:t>production efficiency</a:t>
            </a:r>
            <a:r>
              <a:rPr lang="en-US" sz="1800" dirty="0" smtClean="0"/>
              <a:t>.</a:t>
            </a:r>
          </a:p>
          <a:p>
            <a:pPr>
              <a:buFont typeface="Wingdings" pitchFamily="2" charset="2"/>
              <a:buChar char="Ø"/>
            </a:pPr>
            <a:r>
              <a:rPr lang="en-US" sz="1800" dirty="0" smtClean="0"/>
              <a:t>By </a:t>
            </a:r>
            <a:r>
              <a:rPr lang="en-US" sz="1800" dirty="0"/>
              <a:t>identifying wells that are likely to produce less oil and gas, companies can avoid investing in them</a:t>
            </a:r>
            <a:endParaRPr lang="en-US" sz="1800" dirty="0" smtClean="0"/>
          </a:p>
          <a:p>
            <a:pPr>
              <a:buFont typeface="Wingdings" pitchFamily="2" charset="2"/>
              <a:buChar char="Ø"/>
            </a:pPr>
            <a:r>
              <a:rPr lang="en-US" sz="1800" dirty="0" smtClean="0"/>
              <a:t> </a:t>
            </a:r>
            <a:r>
              <a:rPr lang="en-US" sz="1800" dirty="0"/>
              <a:t>Finally, accurate production projections help us manage the risks associated with unexpected drops in oil, </a:t>
            </a:r>
            <a:r>
              <a:rPr lang="en-US" sz="1800" dirty="0" smtClean="0"/>
              <a:t>and gas output</a:t>
            </a:r>
            <a:r>
              <a:rPr lang="en-US" sz="2000" dirty="0" smtClean="0"/>
              <a:t>.</a:t>
            </a:r>
            <a:endParaRPr lang="en-US" sz="1600" dirty="0"/>
          </a:p>
          <a:p>
            <a:pPr marL="0" indent="0">
              <a:buNone/>
            </a:pPr>
            <a:r>
              <a:rPr lang="en-US" sz="2000" b="1" dirty="0" smtClean="0"/>
              <a:t>CALL TO ACTION:</a:t>
            </a:r>
          </a:p>
          <a:p>
            <a:pPr marL="0" indent="0">
              <a:buNone/>
            </a:pPr>
            <a:r>
              <a:rPr lang="en-US" sz="2000" b="1" dirty="0" smtClean="0"/>
              <a:t>EMBRACING MACHINE LEARNING FOR BETTER FORECASTING !!!</a:t>
            </a:r>
            <a:endParaRPr lang="en-US" sz="2000" b="1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8077200" y="6492875"/>
            <a:ext cx="762000" cy="365125"/>
          </a:xfrm>
        </p:spPr>
        <p:txBody>
          <a:bodyPr/>
          <a:lstStyle/>
          <a:p>
            <a:fld id="{D218128E-5CC3-4DD3-8F5B-4F7426C3CA53}" type="slidenum">
              <a:rPr lang="en-US" sz="4000" smtClean="0"/>
              <a:t>10</a:t>
            </a:fld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497284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6900</TotalTime>
  <Words>414</Words>
  <Application>Microsoft Office PowerPoint</Application>
  <PresentationFormat>On-screen Show (4:3)</PresentationFormat>
  <Paragraphs>108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Flow</vt:lpstr>
      <vt:lpstr>Prediction of Oil, Gas and Water Production Using Machine Learning</vt:lpstr>
      <vt:lpstr>Introduction</vt:lpstr>
      <vt:lpstr>Objective</vt:lpstr>
      <vt:lpstr>Outline</vt:lpstr>
      <vt:lpstr>Data Preprocessing</vt:lpstr>
      <vt:lpstr> Exploratory Data Analysis</vt:lpstr>
      <vt:lpstr> Feature Engineering</vt:lpstr>
      <vt:lpstr>Model Training and Evaluation</vt:lpstr>
      <vt:lpstr>Results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LENOVO</cp:lastModifiedBy>
  <cp:revision>56</cp:revision>
  <dcterms:created xsi:type="dcterms:W3CDTF">2024-06-26T07:58:15Z</dcterms:created>
  <dcterms:modified xsi:type="dcterms:W3CDTF">2024-07-10T09:57:04Z</dcterms:modified>
</cp:coreProperties>
</file>